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f02ccc1782f4041" /><Relationship Type="http://schemas.openxmlformats.org/officeDocument/2006/relationships/extended-properties" Target="/docProps/app.xml" Id="Ref342d82170f4376" /><Relationship Type="http://schemas.openxmlformats.org/officeDocument/2006/relationships/officeDocument" Target="/ppt/presentation.xml" Id="Rd4b58739c9204346" /></Relationships>
</file>

<file path=ppt/presentation.xml><?xml version="1.0" encoding="utf-8"?>
<p:presentation xmlns:p="http://schemas.openxmlformats.org/presentationml/2006/main">
  <p:sldMasterIdLst>
    <p:sldMasterId xmlns:r="http://schemas.openxmlformats.org/officeDocument/2006/relationships" id="2147483648" r:id="R28e539bfc1c247f3"/>
  </p:sldMasterIdLst>
  <p:notesMasterIdLst>
    <p:notesMasterId xmlns:r="http://schemas.openxmlformats.org/officeDocument/2006/relationships" r:id="R5d5796ec1a8249ac"/>
  </p:notesMasterIdLst>
  <p:sldIdLst>
    <p:sldId xmlns:r="http://schemas.openxmlformats.org/officeDocument/2006/relationships" id="256" r:id="Rf4735ad79c124266"/>
    <p:sldId xmlns:r="http://schemas.openxmlformats.org/officeDocument/2006/relationships" id="257" r:id="Rdc00c1c31f9140c0"/>
    <p:sldId xmlns:r="http://schemas.openxmlformats.org/officeDocument/2006/relationships" id="258" r:id="R679e7038866e442a"/>
    <p:sldId xmlns:r="http://schemas.openxmlformats.org/officeDocument/2006/relationships" id="259" r:id="Rb107c34c35d34c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e9bd534bcd48c0" /><Relationship Type="http://schemas.openxmlformats.org/officeDocument/2006/relationships/slideMaster" Target="/ppt/slideMasters/slideMaster1.xml" Id="R28e539bfc1c247f3" /><Relationship Type="http://schemas.openxmlformats.org/officeDocument/2006/relationships/notesMaster" Target="/ppt/notesMasters/notesMaster1.xml" Id="R5d5796ec1a8249ac" /><Relationship Type="http://schemas.openxmlformats.org/officeDocument/2006/relationships/presProps" Target="/ppt/presProps.xml" Id="R6c42a04c793c4e41" /><Relationship Type="http://schemas.openxmlformats.org/officeDocument/2006/relationships/tableStyles" Target="/ppt/tableStyles.xml" Id="Re0dc77d78a2b4d1e" /><Relationship Type="http://schemas.openxmlformats.org/officeDocument/2006/relationships/slide" Target="/ppt/slides/slide1.xml" Id="Rf4735ad79c124266" /><Relationship Type="http://schemas.openxmlformats.org/officeDocument/2006/relationships/slide" Target="/ppt/slides/slide2.xml" Id="Rdc00c1c31f9140c0" /><Relationship Type="http://schemas.openxmlformats.org/officeDocument/2006/relationships/slide" Target="/ppt/slides/slide3.xml" Id="R679e7038866e442a" /><Relationship Type="http://schemas.openxmlformats.org/officeDocument/2006/relationships/slide" Target="/ppt/slides/slide4.xml" Id="Rb107c34c35d34c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e9faaf241645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67811980454c66" /><Relationship Type="http://schemas.openxmlformats.org/officeDocument/2006/relationships/notesMaster" Target="/ppt/notesMasters/notesMaster1.xml" Id="Rb9f0faa5dae94d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30a0cadada411e" /><Relationship Type="http://schemas.openxmlformats.org/officeDocument/2006/relationships/notesMaster" Target="/ppt/notesMasters/notesMaster1.xml" Id="R68e520d8e9d14d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d64bc5d6904d1d" /><Relationship Type="http://schemas.openxmlformats.org/officeDocument/2006/relationships/notesMaster" Target="/ppt/notesMasters/notesMaster1.xml" Id="R76ad3261990c4a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71f0bbdca94851" /><Relationship Type="http://schemas.openxmlformats.org/officeDocument/2006/relationships/notesMaster" Target="/ppt/notesMasters/notesMaster1.xml" Id="R7e2c846b25b343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Optiver asked us to build a carbon-credit portfolio that delivers 100,000 tonnes on a budget and survives unexpected failures. The cheapest credits can miss that target when projects fail together. We asked how much extra a more resilient portfolio costs.</a:t>
            </a:r>
          </a:p>
          <a:p xmlns:a="http://schemas.openxmlformats.org/drawingml/2006/main">
            <a:r>
              <a:t/>
            </a:r>
          </a:p>
          <a:p xmlns:a="http://schemas.openxmlformats.org/drawingml/2006/main">
            <a:r>
              <a:t>Sources: docs/optiver/brief.md; docs/optiver/product.md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0:25–1:05. The cheapest nominal portfolio costs about 94 thousand dollars and hits the target in 69 percent of our strongest shared-risk simulations. Our diversified candidate costs about 182 thousand dollars across 13 projects and hits it in 96.99 percent. That is about 87 thousand dollars more for nearly 28 percentage points of modelled reliability. The middle option is cheaper, but relies on just one project.</a:t>
            </a:r>
          </a:p>
          <a:p xmlns:a="http://schemas.openxmlformats.org/drawingml/2006/main">
            <a:r>
              <a:t/>
            </a:r>
          </a:p>
          <a:p xmlns:a="http://schemas.openxmlformats.org/drawingml/2006/main">
            <a:r>
              <a:t>Sources: apps/optiver/frontend/public/data/report.json; docs/optiver/pitch/judges/talking-points.md. Values rounded for display. Each rate uses 10,000 fresh scenarios at shared latent variance 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1:05–1:35. We test shared failure risk across country, developer, registry and project type. Even at our strongest tested setting, the candidate reaches the target in 96.99 percent of simulations. But 60 percent of purchased tonnes still sit in one registry. If all its projects fail together, only 66,668 tonnes remain after buffer recovery. That drill shows severity, not how likely the event is.</a:t>
            </a:r>
          </a:p>
          <a:p xmlns:a="http://schemas.openxmlformats.org/drawingml/2006/main">
            <a:r>
              <a:t/>
            </a:r>
          </a:p>
          <a:p xmlns:a="http://schemas.openxmlformats.org/drawingml/2006/main">
            <a:r>
              <a:t>Sources: apps/optiver/frontend/public/data/report.json; docs/optiver/pitch/judges/script.md. Shared latent variance 0.6 is an assumption. The VCS group-failure drill is deterministic.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1:35–2:00. Our Python tool checks 4,355 supplied projects, searches six allocation templates and evaluates the choice on 10,000 fresh scenarios per risk setting. The prices and ratings are synthetic, and our shared-risk assumptions are not measured outcomes. We cannot claim a globally cheapest portfolio or real-world carbon delivery. What judges can inspect is the cost of resilience and the risk that remains.</a:t>
            </a:r>
          </a:p>
          <a:p xmlns:a="http://schemas.openxmlformats.org/drawingml/2006/main">
            <a:r>
              <a:t/>
            </a:r>
          </a:p>
          <a:p xmlns:a="http://schemas.openxmlformats.org/drawingml/2006/main">
            <a:r>
              <a:t>Sources: docs/optiver/product.md; docs/optiver/presentation-verification.md; docs/optiver/pitch/judges/talking-points.md.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8a820346424a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f9130a16a7449a" /><Relationship Type="http://schemas.openxmlformats.org/officeDocument/2006/relationships/slideLayout" Target="/ppt/slideLayouts/slideLayout1.xml" Id="Rbfb773961aa44a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b773961aa44a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38428f71ae46e6" /><Relationship Type="http://schemas.openxmlformats.org/officeDocument/2006/relationships/notesSlide" Target="/ppt/notesSlides/notesSlide1.xml" Id="R7bc73c99b37640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477f76211341da" /><Relationship Type="http://schemas.openxmlformats.org/officeDocument/2006/relationships/chart" Target="/ppt/slides/charts/chart1.xml" Id="R9f1eddcfa74740e9" /><Relationship Type="http://schemas.openxmlformats.org/officeDocument/2006/relationships/notesSlide" Target="/ppt/notesSlides/notesSlide2.xml" Id="R9593cd17b49f47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bda7a4b2074622" /><Relationship Type="http://schemas.openxmlformats.org/officeDocument/2006/relationships/notesSlide" Target="/ppt/notesSlides/notesSlide3.xml" Id="Re043e72d44c34f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16f20a9a314709" /><Relationship Type="http://schemas.openxmlformats.org/officeDocument/2006/relationships/notesSlide" Target="/ppt/notesSlides/notesSlide4.xml" Id="R8e5d6d033fb54b7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Target-hit rate</c:v>
          </c:tx>
          <c:spPr>
            <a:solidFill xmlns:a="http://schemas.openxmlformats.org/drawingml/2006/main">
              <a:srgbClr val="103C32"/>
            </a:solidFill>
          </c:spPr>
          <c:cat>
            <c:strRef>
              <c:f>'Chart Data'!$A$2:$A$4</c:f>
              <c:strCache>
                <c:ptCount val="3"/>
                <c:pt idx="0">
                  <c:v>Cheapest nominal</c:v>
                </c:pt>
                <c:pt idx="1">
                  <c:v>Cheapest expected</c:v>
                </c:pt>
                <c:pt idx="2">
                  <c:v>Diversified candidate</c:v>
                </c:pt>
              </c:strCache>
            </c:strRef>
          </c:cat>
          <c:val>
            <c:numRef>
              <c:f>'Chart Data'!$B$2:$B$4</c:f>
              <c:numCache>
                <c:formatCode>General</c:formatCode>
                <c:ptCount val="3"/>
                <c:pt idx="0">
                  <c:v>69.06</c:v>
                </c:pt>
                <c:pt idx="1">
                  <c:v>84.61</c:v>
                </c:pt>
                <c:pt idx="2">
                  <c:v>96.99</c:v>
                </c:pt>
              </c:numCache>
            </c:numRef>
          </c:val>
        </c:ser>
        <c:dLbls>
          <c:txPr>
            <a:bodyPr xmlns:a="http://schemas.openxmlformats.org/drawingml/2006/main" anchorCtr="1"/>
            <a:lstStyle xmlns:a="http://schemas.openxmlformats.org/drawingml/2006/main"/>
            <a:p xmlns:a="http://schemas.openxmlformats.org/drawingml/2006/main">
              <a:pPr>
                <a:defRPr>
                  <a:latin typeface="Lato"/>
                  <a:ea typeface="Lato"/>
                  <a:cs typeface="Lato"/>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Lato"/>
                <a:ea typeface="Lato"/>
                <a:cs typeface="Lato"/>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Lato"/>
                <a:ea typeface="Lato"/>
                <a:cs typeface="Lato"/>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3C3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BB7B68-1094-438E-AC08-D4B759E3E31A}"/>
              </a:ext>
            </a:extLst>
          </p:cNvPr>
          <p:cNvSpPr>
            <a:spLocks xmlns:a="http://schemas.openxmlformats.org/drawingml/2006/main" noGrp="1"/>
          </p:cNvSpPr>
          <p:nvPr/>
        </p:nvSpPr>
        <p:spPr>
          <a:xfrm xmlns:a="http://schemas.openxmlformats.org/drawingml/2006/main">
            <a:off x="647700" y="7048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FF15E"/>
                </a:solidFill>
                <a:latin typeface="Lato"/>
                <a:ea typeface="Lato"/>
                <a:cs typeface="Lato"/>
              </a:defRPr>
            </a:pPr>
            <a:r>
              <a:rPr sz="1350" b="1">
                <a:solidFill>
                  <a:srgbClr val="CFF15E"/>
                </a:solidFill>
                <a:latin typeface="Lato"/>
                <a:ea typeface="Lato"/>
                <a:cs typeface="Lato"/>
              </a:rPr>
              <a:t>ADAHACK 2026  ·  OPTIVER</a:t>
            </a:r>
          </a:p>
        </p:txBody>
      </p:sp>
      <p:sp>
        <p:nvSpPr>
          <p:cNvPr id="2" name="">
            <a:extLst xmlns:a="http://schemas.openxmlformats.org/drawingml/2006/main">
              <a:ext uri="{FF2B5EF4-FFF2-40B4-BE49-F238E27FC236}">
                <a16:creationId xmlns:a16="http://schemas.microsoft.com/office/drawing/2014/main" id="{824FB9E5-6062-4353-89E0-6C7A4BD3BA9C}"/>
              </a:ext>
            </a:extLst>
          </p:cNvPr>
          <p:cNvSpPr>
            <a:spLocks xmlns:a="http://schemas.openxmlformats.org/drawingml/2006/main" noGrp="1"/>
          </p:cNvSpPr>
          <p:nvPr/>
        </p:nvSpPr>
        <p:spPr>
          <a:xfrm xmlns:a="http://schemas.openxmlformats.org/drawingml/2006/main">
            <a:off x="647700" y="1704975"/>
            <a:ext cx="103822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FFFFF"/>
                </a:solidFill>
                <a:latin typeface="Lato"/>
                <a:ea typeface="Lato"/>
                <a:cs typeface="Lato"/>
              </a:defRPr>
            </a:pPr>
            <a:r>
              <a:rPr sz="5400" b="1">
                <a:solidFill>
                  <a:srgbClr val="FFFFFF"/>
                </a:solidFill>
                <a:latin typeface="Lato"/>
                <a:ea typeface="Lato"/>
                <a:cs typeface="Lato"/>
              </a:rPr>
              <a:t>Carbon Portfolio</a:t>
            </a:r>
          </a:p>
          <a:p xmlns:a="http://schemas.openxmlformats.org/drawingml/2006/main">
            <a:pPr>
              <a:defRPr sz="5400" b="1">
                <a:solidFill>
                  <a:srgbClr val="FFFFFF"/>
                </a:solidFill>
                <a:latin typeface="Lato"/>
                <a:ea typeface="Lato"/>
                <a:cs typeface="Lato"/>
              </a:defRPr>
            </a:pPr>
            <a:r>
              <a:rPr sz="5400" b="1">
                <a:solidFill>
                  <a:srgbClr val="FFFFFF"/>
                </a:solidFill>
                <a:latin typeface="Lato"/>
                <a:ea typeface="Lato"/>
                <a:cs typeface="Lato"/>
              </a:rPr>
              <a:t>Diversity</a:t>
            </a:r>
          </a:p>
        </p:txBody>
      </p:sp>
      <p:sp>
        <p:nvSpPr>
          <p:cNvPr id="3" name="">
            <a:extLst xmlns:a="http://schemas.openxmlformats.org/drawingml/2006/main">
              <a:ext uri="{FF2B5EF4-FFF2-40B4-BE49-F238E27FC236}">
                <a16:creationId xmlns:a16="http://schemas.microsoft.com/office/drawing/2014/main" id="{3D5B676F-8BCE-4517-9CFC-BBF4EF4DA267}"/>
              </a:ext>
            </a:extLst>
          </p:cNvPr>
          <p:cNvSpPr>
            <a:spLocks xmlns:a="http://schemas.openxmlformats.org/drawingml/2006/main" noGrp="1"/>
          </p:cNvSpPr>
          <p:nvPr/>
        </p:nvSpPr>
        <p:spPr>
          <a:xfrm xmlns:a="http://schemas.openxmlformats.org/drawingml/2006/main">
            <a:off x="685800" y="41624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DDF3E7"/>
                </a:solidFill>
                <a:latin typeface="Lato"/>
                <a:ea typeface="Lato"/>
                <a:cs typeface="Lato"/>
              </a:defRPr>
            </a:pPr>
            <a:r>
              <a:rPr sz="2325" b="0">
                <a:solidFill>
                  <a:srgbClr val="DDF3E7"/>
                </a:solidFill>
                <a:latin typeface="Lato"/>
                <a:ea typeface="Lato"/>
                <a:cs typeface="Lato"/>
              </a:rPr>
              <a:t>100,000 tonnes of CO₂e, even when projects fail</a:t>
            </a:r>
          </a:p>
        </p:txBody>
      </p:sp>
      <p:sp>
        <p:nvSpPr>
          <p:cNvPr id="4" name="">
            <a:extLst xmlns:a="http://schemas.openxmlformats.org/drawingml/2006/main">
              <a:ext uri="{FF2B5EF4-FFF2-40B4-BE49-F238E27FC236}">
                <a16:creationId xmlns:a16="http://schemas.microsoft.com/office/drawing/2014/main" id="{718BB38A-82EC-4F4C-ACF4-0C2D5467ECE6}"/>
              </a:ext>
            </a:extLst>
          </p:cNvPr>
          <p:cNvSpPr>
            <a:spLocks xmlns:a="http://schemas.openxmlformats.org/drawingml/2006/main" noGrp="1"/>
          </p:cNvSpPr>
          <p:nvPr/>
        </p:nvSpPr>
        <p:spPr>
          <a:xfrm xmlns:a="http://schemas.openxmlformats.org/drawingml/2006/main">
            <a:off x="685800" y="598170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FF15E"/>
                </a:solidFill>
                <a:latin typeface="Lato"/>
                <a:ea typeface="Lato"/>
                <a:cs typeface="Lato"/>
              </a:defRPr>
            </a:pPr>
            <a:r>
              <a:rPr sz="1350" b="1">
                <a:solidFill>
                  <a:srgbClr val="CFF15E"/>
                </a:solidFill>
                <a:latin typeface="Lato"/>
                <a:ea typeface="Lato"/>
                <a:cs typeface="Lato"/>
              </a:rPr>
              <a:t>TWO-MINUTE PITCH</a:t>
            </a:r>
          </a:p>
        </p:txBody>
      </p:sp>
    </p:spTree>
    <p:extLst>
      <p:ext uri="{BB962C8B-B14F-4D97-AF65-F5344CB8AC3E}">
        <p14:creationId xmlns:p14="http://schemas.microsoft.com/office/powerpoint/2010/main" val="280244264"/>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93C19C-0BE3-464B-9089-FEF3A03825DD}"/>
              </a:ext>
            </a:extLst>
          </p:cNvPr>
          <p:cNvSpPr>
            <a:spLocks xmlns:a="http://schemas.openxmlformats.org/drawingml/2006/main" noGrp="1"/>
          </p:cNvSpPr>
          <p:nvPr/>
        </p:nvSpPr>
        <p:spPr>
          <a:xfrm xmlns:a="http://schemas.openxmlformats.org/drawingml/2006/main">
            <a:off x="647700" y="4000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736A"/>
                </a:solidFill>
                <a:latin typeface="Lato"/>
                <a:ea typeface="Lato"/>
                <a:cs typeface="Lato"/>
              </a:defRPr>
            </a:pPr>
            <a:r>
              <a:rPr sz="1275" b="1">
                <a:solidFill>
                  <a:srgbClr val="56736A"/>
                </a:solidFill>
                <a:latin typeface="Lato"/>
                <a:ea typeface="Lato"/>
                <a:cs typeface="Lato"/>
              </a:rPr>
              <a:t>02</a:t>
            </a:r>
          </a:p>
        </p:txBody>
      </p:sp>
      <p:sp>
        <p:nvSpPr>
          <p:cNvPr id="2" name="">
            <a:extLst xmlns:a="http://schemas.openxmlformats.org/drawingml/2006/main">
              <a:ext uri="{FF2B5EF4-FFF2-40B4-BE49-F238E27FC236}">
                <a16:creationId xmlns:a16="http://schemas.microsoft.com/office/drawing/2014/main" id="{041AA6D8-AC54-44C5-A53B-6B8E57267FE8}"/>
              </a:ext>
            </a:extLst>
          </p:cNvPr>
          <p:cNvSpPr>
            <a:spLocks xmlns:a="http://schemas.openxmlformats.org/drawingml/2006/main" noGrp="1"/>
          </p:cNvSpPr>
          <p:nvPr/>
        </p:nvSpPr>
        <p:spPr>
          <a:xfrm xmlns:a="http://schemas.openxmlformats.org/drawingml/2006/main">
            <a:off x="647700" y="9334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E28"/>
                </a:solidFill>
                <a:latin typeface="Lato"/>
                <a:ea typeface="Lato"/>
                <a:cs typeface="Lato"/>
              </a:defRPr>
            </a:pPr>
            <a:r>
              <a:rPr sz="3225" b="1">
                <a:solidFill>
                  <a:srgbClr val="122E28"/>
                </a:solidFill>
                <a:latin typeface="Lato"/>
                <a:ea typeface="Lato"/>
                <a:cs typeface="Lato"/>
              </a:rPr>
              <a:t>The cost of reliability</a:t>
            </a:r>
          </a:p>
        </p:txBody>
      </p:sp>
      <p:sp>
        <p:nvSpPr>
          <p:cNvPr id="3" name="">
            <a:extLst xmlns:a="http://schemas.openxmlformats.org/drawingml/2006/main">
              <a:ext uri="{FF2B5EF4-FFF2-40B4-BE49-F238E27FC236}">
                <a16:creationId xmlns:a16="http://schemas.microsoft.com/office/drawing/2014/main" id="{00F1E235-FB99-4AB8-A7DB-7C087E1E18C8}"/>
              </a:ext>
            </a:extLst>
          </p:cNvPr>
          <p:cNvSpPr>
            <a:spLocks xmlns:a="http://schemas.openxmlformats.org/drawingml/2006/main" noGrp="1"/>
          </p:cNvSpPr>
          <p:nvPr/>
        </p:nvSpPr>
        <p:spPr>
          <a:xfrm xmlns:a="http://schemas.openxmlformats.org/drawingml/2006/main">
            <a:off x="647700" y="1695450"/>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6736A"/>
                </a:solidFill>
                <a:latin typeface="Lato"/>
                <a:ea typeface="Lato"/>
                <a:cs typeface="Lato"/>
              </a:defRPr>
            </a:pPr>
            <a:r>
              <a:rPr sz="1800" b="0">
                <a:solidFill>
                  <a:srgbClr val="56736A"/>
                </a:solidFill>
                <a:latin typeface="Lato"/>
                <a:ea typeface="Lato"/>
                <a:cs typeface="Lato"/>
              </a:rPr>
              <a:t>Modelled target-hit rate under the strongest shared-risk setting</a:t>
            </a:r>
          </a:p>
        </p:txBody>
      </p:sp>
      <p:graphicFrame>
        <p:nvGraphicFramePr>
          <p:cNvPr id="13" name="Chart"/>
          <p:cNvGraphicFramePr/>
          <p:nvPr/>
        </p:nvGraphicFramePr>
        <p:xfrm>
          <a:off xmlns:a="http://schemas.openxmlformats.org/drawingml/2006/main" x="590550" y="2228850"/>
          <a:ext xmlns:a="http://schemas.openxmlformats.org/drawingml/2006/main" cx="7429500" cy="2724150"/>
        </p:xfrm>
        <a:graphic xmlns:a="http://schemas.openxmlformats.org/drawingml/2006/main">
          <a:graphicData uri="http://schemas.openxmlformats.org/drawingml/2006/chart">
            <c:chart xmlns:r="http://schemas.openxmlformats.org/officeDocument/2006/relationships" xmlns:c="http://schemas.openxmlformats.org/drawingml/2006/chart" r:id="R9f1eddcfa74740e9"/>
          </a:graphicData>
        </a:graphic>
      </p:graphicFrame>
      <p:sp>
        <p:nvSpPr>
          <p:cNvPr id="5" name="">
            <a:extLst xmlns:a="http://schemas.openxmlformats.org/drawingml/2006/main">
              <a:ext uri="{FF2B5EF4-FFF2-40B4-BE49-F238E27FC236}">
                <a16:creationId xmlns:a16="http://schemas.microsoft.com/office/drawing/2014/main" id="{552B75BE-71FB-447C-8FD9-CC28CB06E78C}"/>
              </a:ext>
            </a:extLst>
          </p:cNvPr>
          <p:cNvSpPr>
            <a:spLocks xmlns:a="http://schemas.openxmlformats.org/drawingml/2006/main" noGrp="1"/>
          </p:cNvSpPr>
          <p:nvPr/>
        </p:nvSpPr>
        <p:spPr>
          <a:xfrm xmlns:a="http://schemas.openxmlformats.org/drawingml/2006/main">
            <a:off x="8591550" y="2181225"/>
            <a:ext cx="300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736A"/>
                </a:solidFill>
                <a:latin typeface="Lato"/>
                <a:ea typeface="Lato"/>
                <a:cs typeface="Lato"/>
              </a:defRPr>
            </a:pPr>
            <a:r>
              <a:rPr sz="1275" b="1">
                <a:solidFill>
                  <a:srgbClr val="56736A"/>
                </a:solidFill>
                <a:latin typeface="Lato"/>
                <a:ea typeface="Lato"/>
                <a:cs typeface="Lato"/>
              </a:rPr>
              <a:t>COST  /  PROJECTS</a:t>
            </a:r>
          </a:p>
        </p:txBody>
      </p:sp>
      <p:sp>
        <p:nvSpPr>
          <p:cNvPr id="6" name="">
            <a:extLst xmlns:a="http://schemas.openxmlformats.org/drawingml/2006/main">
              <a:ext uri="{FF2B5EF4-FFF2-40B4-BE49-F238E27FC236}">
                <a16:creationId xmlns:a16="http://schemas.microsoft.com/office/drawing/2014/main" id="{8DD739EE-85EF-4EBE-AEBB-40529B3D8BDA}"/>
              </a:ext>
            </a:extLst>
          </p:cNvPr>
          <p:cNvSpPr>
            <a:spLocks xmlns:a="http://schemas.openxmlformats.org/drawingml/2006/main" noGrp="1"/>
          </p:cNvSpPr>
          <p:nvPr/>
        </p:nvSpPr>
        <p:spPr>
          <a:xfrm xmlns:a="http://schemas.openxmlformats.org/drawingml/2006/main">
            <a:off x="8591550" y="25527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3C32"/>
                </a:solidFill>
                <a:latin typeface="Lato"/>
                <a:ea typeface="Lato"/>
                <a:cs typeface="Lato"/>
              </a:defRPr>
            </a:pPr>
            <a:r>
              <a:rPr sz="1950" b="1">
                <a:solidFill>
                  <a:srgbClr val="103C32"/>
                </a:solidFill>
                <a:latin typeface="Lato"/>
                <a:ea typeface="Lato"/>
                <a:cs typeface="Lato"/>
              </a:rPr>
              <a:t>$181,659  /  13</a:t>
            </a:r>
          </a:p>
        </p:txBody>
      </p:sp>
      <p:sp>
        <p:nvSpPr>
          <p:cNvPr id="7" name="">
            <a:extLst xmlns:a="http://schemas.openxmlformats.org/drawingml/2006/main">
              <a:ext uri="{FF2B5EF4-FFF2-40B4-BE49-F238E27FC236}">
                <a16:creationId xmlns:a16="http://schemas.microsoft.com/office/drawing/2014/main" id="{9A0D3E92-C596-4B83-B275-7D965F7A2BD4}"/>
              </a:ext>
            </a:extLst>
          </p:cNvPr>
          <p:cNvSpPr>
            <a:spLocks xmlns:a="http://schemas.openxmlformats.org/drawingml/2006/main" noGrp="1"/>
          </p:cNvSpPr>
          <p:nvPr/>
        </p:nvSpPr>
        <p:spPr>
          <a:xfrm xmlns:a="http://schemas.openxmlformats.org/drawingml/2006/main">
            <a:off x="8591550" y="3381375"/>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2E28"/>
                </a:solidFill>
                <a:latin typeface="Lato"/>
                <a:ea typeface="Lato"/>
                <a:cs typeface="Lato"/>
              </a:defRPr>
            </a:pPr>
            <a:r>
              <a:rPr sz="1950" b="1">
                <a:solidFill>
                  <a:srgbClr val="122E28"/>
                </a:solidFill>
                <a:latin typeface="Lato"/>
                <a:ea typeface="Lato"/>
                <a:cs typeface="Lato"/>
              </a:rPr>
              <a:t>$115,294  /  1</a:t>
            </a:r>
          </a:p>
        </p:txBody>
      </p:sp>
      <p:sp>
        <p:nvSpPr>
          <p:cNvPr id="8" name="">
            <a:extLst xmlns:a="http://schemas.openxmlformats.org/drawingml/2006/main">
              <a:ext uri="{FF2B5EF4-FFF2-40B4-BE49-F238E27FC236}">
                <a16:creationId xmlns:a16="http://schemas.microsoft.com/office/drawing/2014/main" id="{83660B55-91B5-474F-967F-F883E4FAF0A5}"/>
              </a:ext>
            </a:extLst>
          </p:cNvPr>
          <p:cNvSpPr>
            <a:spLocks xmlns:a="http://schemas.openxmlformats.org/drawingml/2006/main" noGrp="1"/>
          </p:cNvSpPr>
          <p:nvPr/>
        </p:nvSpPr>
        <p:spPr>
          <a:xfrm xmlns:a="http://schemas.openxmlformats.org/drawingml/2006/main">
            <a:off x="8591550" y="4219575"/>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2E28"/>
                </a:solidFill>
                <a:latin typeface="Lato"/>
                <a:ea typeface="Lato"/>
                <a:cs typeface="Lato"/>
              </a:defRPr>
            </a:pPr>
            <a:r>
              <a:rPr sz="1950" b="1">
                <a:solidFill>
                  <a:srgbClr val="122E28"/>
                </a:solidFill>
                <a:latin typeface="Lato"/>
                <a:ea typeface="Lato"/>
                <a:cs typeface="Lato"/>
              </a:rPr>
              <a:t>$94,277  /  2</a:t>
            </a:r>
          </a:p>
        </p:txBody>
      </p:sp>
      <p:sp>
        <p:nvSpPr>
          <p:cNvPr id="9" name="">
            <a:extLst xmlns:a="http://schemas.openxmlformats.org/drawingml/2006/main">
              <a:ext uri="{FF2B5EF4-FFF2-40B4-BE49-F238E27FC236}">
                <a16:creationId xmlns:a16="http://schemas.microsoft.com/office/drawing/2014/main" id="{48DD2061-4E18-414A-B2E8-743574D45EC1}"/>
              </a:ext>
            </a:extLst>
          </p:cNvPr>
          <p:cNvSpPr>
            <a:spLocks xmlns:a="http://schemas.openxmlformats.org/drawingml/2006/main" noGrp="1"/>
          </p:cNvSpPr>
          <p:nvPr/>
        </p:nvSpPr>
        <p:spPr>
          <a:xfrm xmlns:a="http://schemas.openxmlformats.org/drawingml/2006/main">
            <a:off x="685800" y="541972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2E28"/>
                </a:solidFill>
                <a:latin typeface="Lato"/>
                <a:ea typeface="Lato"/>
                <a:cs typeface="Lato"/>
              </a:defRPr>
            </a:pPr>
            <a:r>
              <a:rPr sz="2100" b="1">
                <a:solidFill>
                  <a:srgbClr val="122E28"/>
                </a:solidFill>
                <a:latin typeface="Lato"/>
                <a:ea typeface="Lato"/>
                <a:cs typeface="Lato"/>
              </a:rPr>
              <a:t>+$87,382 buys a 27.93-point gain over the cheapest portfolio</a:t>
            </a:r>
          </a:p>
        </p:txBody>
      </p:sp>
    </p:spTree>
    <p:extLst>
      <p:ext uri="{BB962C8B-B14F-4D97-AF65-F5344CB8AC3E}">
        <p14:creationId xmlns:p14="http://schemas.microsoft.com/office/powerpoint/2010/main" val="88384043"/>
      </p:ext>
    </p:extLst>
  </p:cSld>
</p:sld>
</file>

<file path=ppt/slides/slide3.xml><?xml version="1.0" encoding="utf-8"?>
<p:sld xmlns:p="http://schemas.openxmlformats.org/presentationml/2006/main">
  <p:cSld>
    <p:bg>
      <p:bgPr>
        <a:solidFill xmlns:a="http://schemas.openxmlformats.org/drawingml/2006/main">
          <a:srgbClr val="DDF3E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28D912-7A25-439B-8E76-2EAAA4B0FC21}"/>
              </a:ext>
            </a:extLst>
          </p:cNvPr>
          <p:cNvSpPr>
            <a:spLocks xmlns:a="http://schemas.openxmlformats.org/drawingml/2006/main" noGrp="1"/>
          </p:cNvSpPr>
          <p:nvPr/>
        </p:nvSpPr>
        <p:spPr>
          <a:xfrm xmlns:a="http://schemas.openxmlformats.org/drawingml/2006/main">
            <a:off x="647700" y="4000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736A"/>
                </a:solidFill>
                <a:latin typeface="Lato"/>
                <a:ea typeface="Lato"/>
                <a:cs typeface="Lato"/>
              </a:defRPr>
            </a:pPr>
            <a:r>
              <a:rPr sz="1275" b="1">
                <a:solidFill>
                  <a:srgbClr val="56736A"/>
                </a:solidFill>
                <a:latin typeface="Lato"/>
                <a:ea typeface="Lato"/>
                <a:cs typeface="Lato"/>
              </a:rPr>
              <a:t>03</a:t>
            </a:r>
          </a:p>
        </p:txBody>
      </p:sp>
      <p:sp>
        <p:nvSpPr>
          <p:cNvPr id="2" name="">
            <a:extLst xmlns:a="http://schemas.openxmlformats.org/drawingml/2006/main">
              <a:ext uri="{FF2B5EF4-FFF2-40B4-BE49-F238E27FC236}">
                <a16:creationId xmlns:a16="http://schemas.microsoft.com/office/drawing/2014/main" id="{77AC2AA9-E567-493F-AD18-D031EF7819C5}"/>
              </a:ext>
            </a:extLst>
          </p:cNvPr>
          <p:cNvSpPr>
            <a:spLocks xmlns:a="http://schemas.openxmlformats.org/drawingml/2006/main" noGrp="1"/>
          </p:cNvSpPr>
          <p:nvPr/>
        </p:nvSpPr>
        <p:spPr>
          <a:xfrm xmlns:a="http://schemas.openxmlformats.org/drawingml/2006/main">
            <a:off x="647700" y="9334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E28"/>
                </a:solidFill>
                <a:latin typeface="Lato"/>
                <a:ea typeface="Lato"/>
                <a:cs typeface="Lato"/>
              </a:defRPr>
            </a:pPr>
            <a:r>
              <a:rPr sz="3225" b="1">
                <a:solidFill>
                  <a:srgbClr val="122E28"/>
                </a:solidFill>
                <a:latin typeface="Lato"/>
                <a:ea typeface="Lato"/>
                <a:cs typeface="Lato"/>
              </a:rPr>
              <a:t>Shared failures expose the limit</a:t>
            </a:r>
          </a:p>
        </p:txBody>
      </p:sp>
      <p:sp>
        <p:nvSpPr>
          <p:cNvPr id="3" name="">
            <a:extLst xmlns:a="http://schemas.openxmlformats.org/drawingml/2006/main">
              <a:ext uri="{FF2B5EF4-FFF2-40B4-BE49-F238E27FC236}">
                <a16:creationId xmlns:a16="http://schemas.microsoft.com/office/drawing/2014/main" id="{B12CCA93-F916-4325-8CBD-FBBB34A67088}"/>
              </a:ext>
            </a:extLst>
          </p:cNvPr>
          <p:cNvSpPr>
            <a:spLocks xmlns:a="http://schemas.openxmlformats.org/drawingml/2006/main" noGrp="1"/>
          </p:cNvSpPr>
          <p:nvPr/>
        </p:nvSpPr>
        <p:spPr>
          <a:xfrm xmlns:a="http://schemas.openxmlformats.org/drawingml/2006/main">
            <a:off x="666750" y="2266950"/>
            <a:ext cx="5715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450" b="1">
                <a:solidFill>
                  <a:srgbClr val="103C32"/>
                </a:solidFill>
                <a:latin typeface="Lato"/>
                <a:ea typeface="Lato"/>
                <a:cs typeface="Lato"/>
              </a:defRPr>
            </a:pPr>
            <a:r>
              <a:rPr sz="6450" b="1">
                <a:solidFill>
                  <a:srgbClr val="103C32"/>
                </a:solidFill>
                <a:latin typeface="Lato"/>
                <a:ea typeface="Lato"/>
                <a:cs typeface="Lato"/>
              </a:rPr>
              <a:t>96.99%</a:t>
            </a:r>
          </a:p>
        </p:txBody>
      </p:sp>
      <p:sp>
        <p:nvSpPr>
          <p:cNvPr id="4" name="">
            <a:extLst xmlns:a="http://schemas.openxmlformats.org/drawingml/2006/main">
              <a:ext uri="{FF2B5EF4-FFF2-40B4-BE49-F238E27FC236}">
                <a16:creationId xmlns:a16="http://schemas.microsoft.com/office/drawing/2014/main" id="{82431886-6FDC-4106-A151-8275EAD64898}"/>
              </a:ext>
            </a:extLst>
          </p:cNvPr>
          <p:cNvSpPr>
            <a:spLocks xmlns:a="http://schemas.openxmlformats.org/drawingml/2006/main" noGrp="1"/>
          </p:cNvSpPr>
          <p:nvPr/>
        </p:nvSpPr>
        <p:spPr>
          <a:xfrm xmlns:a="http://schemas.openxmlformats.org/drawingml/2006/main">
            <a:off x="723900" y="33051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2E28"/>
                </a:solidFill>
                <a:latin typeface="Lato"/>
                <a:ea typeface="Lato"/>
                <a:cs typeface="Lato"/>
              </a:defRPr>
            </a:pPr>
            <a:r>
              <a:rPr sz="2025" b="0">
                <a:solidFill>
                  <a:srgbClr val="122E28"/>
                </a:solidFill>
                <a:latin typeface="Lato"/>
                <a:ea typeface="Lato"/>
                <a:cs typeface="Lato"/>
              </a:rPr>
              <a:t>target hit rate at the strongest tested setting</a:t>
            </a:r>
          </a:p>
        </p:txBody>
      </p:sp>
      <p:sp>
        <p:nvSpPr>
          <p:cNvPr id="5" name="">
            <a:extLst xmlns:a="http://schemas.openxmlformats.org/drawingml/2006/main">
              <a:ext uri="{FF2B5EF4-FFF2-40B4-BE49-F238E27FC236}">
                <a16:creationId xmlns:a16="http://schemas.microsoft.com/office/drawing/2014/main" id="{216D2F4F-7357-4C05-96C4-11B4295A7F17}"/>
              </a:ext>
            </a:extLst>
          </p:cNvPr>
          <p:cNvSpPr>
            <a:spLocks xmlns:a="http://schemas.openxmlformats.org/drawingml/2006/main" noGrp="1"/>
          </p:cNvSpPr>
          <p:nvPr/>
        </p:nvSpPr>
        <p:spPr>
          <a:xfrm xmlns:a="http://schemas.openxmlformats.org/drawingml/2006/main">
            <a:off x="685800" y="454342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03C32"/>
                </a:solidFill>
                <a:latin typeface="Lato"/>
                <a:ea typeface="Lato"/>
                <a:cs typeface="Lato"/>
              </a:defRPr>
            </a:pPr>
            <a:r>
              <a:rPr sz="4800" b="1">
                <a:solidFill>
                  <a:srgbClr val="103C32"/>
                </a:solidFill>
                <a:latin typeface="Lato"/>
                <a:ea typeface="Lato"/>
                <a:cs typeface="Lato"/>
              </a:rPr>
              <a:t>60%</a:t>
            </a:r>
          </a:p>
        </p:txBody>
      </p:sp>
      <p:sp>
        <p:nvSpPr>
          <p:cNvPr id="6" name="">
            <a:extLst xmlns:a="http://schemas.openxmlformats.org/drawingml/2006/main">
              <a:ext uri="{FF2B5EF4-FFF2-40B4-BE49-F238E27FC236}">
                <a16:creationId xmlns:a16="http://schemas.microsoft.com/office/drawing/2014/main" id="{DC7D4F66-663D-45F0-851C-4D36805C03B2}"/>
              </a:ext>
            </a:extLst>
          </p:cNvPr>
          <p:cNvSpPr>
            <a:spLocks xmlns:a="http://schemas.openxmlformats.org/drawingml/2006/main" noGrp="1"/>
          </p:cNvSpPr>
          <p:nvPr/>
        </p:nvSpPr>
        <p:spPr>
          <a:xfrm xmlns:a="http://schemas.openxmlformats.org/drawingml/2006/main">
            <a:off x="685800" y="5362575"/>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736A"/>
                </a:solidFill>
                <a:latin typeface="Lato"/>
                <a:ea typeface="Lato"/>
                <a:cs typeface="Lato"/>
              </a:defRPr>
            </a:pPr>
            <a:r>
              <a:rPr sz="1875" b="0">
                <a:solidFill>
                  <a:srgbClr val="56736A"/>
                </a:solidFill>
                <a:latin typeface="Lato"/>
                <a:ea typeface="Lato"/>
                <a:cs typeface="Lato"/>
              </a:rPr>
              <a:t>of purchased tonnes sit in one registry</a:t>
            </a:r>
          </a:p>
        </p:txBody>
      </p:sp>
      <p:sp>
        <p:nvSpPr>
          <p:cNvPr id="7" name="">
            <a:extLst xmlns:a="http://schemas.openxmlformats.org/drawingml/2006/main">
              <a:ext uri="{FF2B5EF4-FFF2-40B4-BE49-F238E27FC236}">
                <a16:creationId xmlns:a16="http://schemas.microsoft.com/office/drawing/2014/main" id="{1340B27D-447B-4BC3-AD59-4D2A0AB25CC0}"/>
              </a:ext>
            </a:extLst>
          </p:cNvPr>
          <p:cNvSpPr>
            <a:spLocks xmlns:a="http://schemas.openxmlformats.org/drawingml/2006/main" noGrp="1"/>
          </p:cNvSpPr>
          <p:nvPr/>
        </p:nvSpPr>
        <p:spPr>
          <a:xfrm xmlns:a="http://schemas.openxmlformats.org/drawingml/2006/main">
            <a:off x="6419850" y="4543425"/>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BD544A"/>
                </a:solidFill>
                <a:latin typeface="Lato"/>
                <a:ea typeface="Lato"/>
                <a:cs typeface="Lato"/>
              </a:defRPr>
            </a:pPr>
            <a:r>
              <a:rPr sz="4800" b="1">
                <a:solidFill>
                  <a:srgbClr val="BD544A"/>
                </a:solidFill>
                <a:latin typeface="Lato"/>
                <a:ea typeface="Lato"/>
                <a:cs typeface="Lato"/>
              </a:rPr>
              <a:t>66,668 t</a:t>
            </a:r>
          </a:p>
        </p:txBody>
      </p:sp>
      <p:sp>
        <p:nvSpPr>
          <p:cNvPr id="8" name="">
            <a:extLst xmlns:a="http://schemas.openxmlformats.org/drawingml/2006/main">
              <a:ext uri="{FF2B5EF4-FFF2-40B4-BE49-F238E27FC236}">
                <a16:creationId xmlns:a16="http://schemas.microsoft.com/office/drawing/2014/main" id="{B1A43872-DF63-4B58-AE70-22D53B87F9CC}"/>
              </a:ext>
            </a:extLst>
          </p:cNvPr>
          <p:cNvSpPr>
            <a:spLocks xmlns:a="http://schemas.openxmlformats.org/drawingml/2006/main" noGrp="1"/>
          </p:cNvSpPr>
          <p:nvPr/>
        </p:nvSpPr>
        <p:spPr>
          <a:xfrm xmlns:a="http://schemas.openxmlformats.org/drawingml/2006/main">
            <a:off x="6419850" y="5362575"/>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736A"/>
                </a:solidFill>
                <a:latin typeface="Lato"/>
                <a:ea typeface="Lato"/>
                <a:cs typeface="Lato"/>
              </a:defRPr>
            </a:pPr>
            <a:r>
              <a:rPr sz="1875" b="0">
                <a:solidFill>
                  <a:srgbClr val="56736A"/>
                </a:solidFill>
                <a:latin typeface="Lato"/>
                <a:ea typeface="Lato"/>
                <a:cs typeface="Lato"/>
              </a:rPr>
              <a:t>remain if all its projects fail together</a:t>
            </a:r>
          </a:p>
        </p:txBody>
      </p:sp>
    </p:spTree>
    <p:extLst>
      <p:ext uri="{BB962C8B-B14F-4D97-AF65-F5344CB8AC3E}">
        <p14:creationId xmlns:p14="http://schemas.microsoft.com/office/powerpoint/2010/main" val="422124825"/>
      </p:ext>
    </p:extLst>
  </p:cSld>
</p:sld>
</file>

<file path=ppt/slides/slide4.xml><?xml version="1.0" encoding="utf-8"?>
<p:sld xmlns:p="http://schemas.openxmlformats.org/presentationml/2006/main">
  <p:cSld>
    <p:bg>
      <p:bgPr>
        <a:solidFill xmlns:a="http://schemas.openxmlformats.org/drawingml/2006/main">
          <a:srgbClr val="103C3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7FEDD0-C900-415D-B9C5-F02FD10463C2}"/>
              </a:ext>
            </a:extLst>
          </p:cNvPr>
          <p:cNvSpPr>
            <a:spLocks xmlns:a="http://schemas.openxmlformats.org/drawingml/2006/main" noGrp="1"/>
          </p:cNvSpPr>
          <p:nvPr/>
        </p:nvSpPr>
        <p:spPr>
          <a:xfrm xmlns:a="http://schemas.openxmlformats.org/drawingml/2006/main">
            <a:off x="647700" y="4000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CFF15E"/>
                </a:solidFill>
                <a:latin typeface="Lato"/>
                <a:ea typeface="Lato"/>
                <a:cs typeface="Lato"/>
              </a:defRPr>
            </a:pPr>
            <a:r>
              <a:rPr sz="1275" b="1">
                <a:solidFill>
                  <a:srgbClr val="CFF15E"/>
                </a:solidFill>
                <a:latin typeface="Lato"/>
                <a:ea typeface="Lato"/>
                <a:cs typeface="Lato"/>
              </a:rPr>
              <a:t>04</a:t>
            </a:r>
          </a:p>
        </p:txBody>
      </p:sp>
      <p:sp>
        <p:nvSpPr>
          <p:cNvPr id="2" name="">
            <a:extLst xmlns:a="http://schemas.openxmlformats.org/drawingml/2006/main">
              <a:ext uri="{FF2B5EF4-FFF2-40B4-BE49-F238E27FC236}">
                <a16:creationId xmlns:a16="http://schemas.microsoft.com/office/drawing/2014/main" id="{85C8B116-AE2A-4B97-97A9-ED58D49AAC58}"/>
              </a:ext>
            </a:extLst>
          </p:cNvPr>
          <p:cNvSpPr>
            <a:spLocks xmlns:a="http://schemas.openxmlformats.org/drawingml/2006/main" noGrp="1"/>
          </p:cNvSpPr>
          <p:nvPr/>
        </p:nvSpPr>
        <p:spPr>
          <a:xfrm xmlns:a="http://schemas.openxmlformats.org/drawingml/2006/main">
            <a:off x="647700" y="9334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Lato"/>
                <a:ea typeface="Lato"/>
                <a:cs typeface="Lato"/>
              </a:defRPr>
            </a:pPr>
            <a:r>
              <a:rPr sz="3225" b="1">
                <a:solidFill>
                  <a:srgbClr val="FFFFFF"/>
                </a:solidFill>
                <a:latin typeface="Lato"/>
                <a:ea typeface="Lato"/>
                <a:cs typeface="Lato"/>
              </a:rPr>
              <a:t>A tool for an honest trade-off</a:t>
            </a:r>
          </a:p>
        </p:txBody>
      </p:sp>
      <p:sp>
        <p:nvSpPr>
          <p:cNvPr id="3" name="">
            <a:extLst xmlns:a="http://schemas.openxmlformats.org/drawingml/2006/main">
              <a:ext uri="{FF2B5EF4-FFF2-40B4-BE49-F238E27FC236}">
                <a16:creationId xmlns:a16="http://schemas.microsoft.com/office/drawing/2014/main" id="{E21569FF-5737-4CA2-B6ED-DB179C5E2D55}"/>
              </a:ext>
            </a:extLst>
          </p:cNvPr>
          <p:cNvSpPr>
            <a:spLocks xmlns:a="http://schemas.openxmlformats.org/drawingml/2006/main" noGrp="1"/>
          </p:cNvSpPr>
          <p:nvPr/>
        </p:nvSpPr>
        <p:spPr>
          <a:xfrm xmlns:a="http://schemas.openxmlformats.org/drawingml/2006/main">
            <a:off x="685800" y="2314575"/>
            <a:ext cx="314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CFF15E"/>
                </a:solidFill>
                <a:latin typeface="Lato"/>
                <a:ea typeface="Lato"/>
                <a:cs typeface="Lato"/>
              </a:defRPr>
            </a:pPr>
            <a:r>
              <a:rPr sz="5100" b="1">
                <a:solidFill>
                  <a:srgbClr val="CFF15E"/>
                </a:solidFill>
                <a:latin typeface="Lato"/>
                <a:ea typeface="Lato"/>
                <a:cs typeface="Lato"/>
              </a:rPr>
              <a:t>4,355</a:t>
            </a:r>
          </a:p>
        </p:txBody>
      </p:sp>
      <p:sp>
        <p:nvSpPr>
          <p:cNvPr id="4" name="">
            <a:extLst xmlns:a="http://schemas.openxmlformats.org/drawingml/2006/main">
              <a:ext uri="{FF2B5EF4-FFF2-40B4-BE49-F238E27FC236}">
                <a16:creationId xmlns:a16="http://schemas.microsoft.com/office/drawing/2014/main" id="{E4E3DA5F-3491-4BDB-BCDF-8B90CF07986D}"/>
              </a:ext>
            </a:extLst>
          </p:cNvPr>
          <p:cNvSpPr>
            <a:spLocks xmlns:a="http://schemas.openxmlformats.org/drawingml/2006/main" noGrp="1"/>
          </p:cNvSpPr>
          <p:nvPr/>
        </p:nvSpPr>
        <p:spPr>
          <a:xfrm xmlns:a="http://schemas.openxmlformats.org/drawingml/2006/main">
            <a:off x="685800" y="31718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DF3E7"/>
                </a:solidFill>
                <a:latin typeface="Lato"/>
                <a:ea typeface="Lato"/>
                <a:cs typeface="Lato"/>
              </a:defRPr>
            </a:pPr>
            <a:r>
              <a:rPr sz="1875" b="0">
                <a:solidFill>
                  <a:srgbClr val="DDF3E7"/>
                </a:solidFill>
                <a:latin typeface="Lato"/>
                <a:ea typeface="Lato"/>
                <a:cs typeface="Lato"/>
              </a:rPr>
              <a:t>supplied projects</a:t>
            </a:r>
          </a:p>
        </p:txBody>
      </p:sp>
      <p:sp>
        <p:nvSpPr>
          <p:cNvPr id="5" name="">
            <a:extLst xmlns:a="http://schemas.openxmlformats.org/drawingml/2006/main">
              <a:ext uri="{FF2B5EF4-FFF2-40B4-BE49-F238E27FC236}">
                <a16:creationId xmlns:a16="http://schemas.microsoft.com/office/drawing/2014/main" id="{DBB56E79-B937-44EF-A2F5-54DE03464041}"/>
              </a:ext>
            </a:extLst>
          </p:cNvPr>
          <p:cNvSpPr>
            <a:spLocks xmlns:a="http://schemas.openxmlformats.org/drawingml/2006/main" noGrp="1"/>
          </p:cNvSpPr>
          <p:nvPr/>
        </p:nvSpPr>
        <p:spPr>
          <a:xfrm xmlns:a="http://schemas.openxmlformats.org/drawingml/2006/main">
            <a:off x="4429125" y="2314575"/>
            <a:ext cx="190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CFF15E"/>
                </a:solidFill>
                <a:latin typeface="Lato"/>
                <a:ea typeface="Lato"/>
                <a:cs typeface="Lato"/>
              </a:defRPr>
            </a:pPr>
            <a:r>
              <a:rPr sz="5100" b="1">
                <a:solidFill>
                  <a:srgbClr val="CFF15E"/>
                </a:solidFill>
                <a:latin typeface="Lato"/>
                <a:ea typeface="Lato"/>
                <a:cs typeface="Lato"/>
              </a:rPr>
              <a:t>6</a:t>
            </a:r>
          </a:p>
        </p:txBody>
      </p:sp>
      <p:sp>
        <p:nvSpPr>
          <p:cNvPr id="6" name="">
            <a:extLst xmlns:a="http://schemas.openxmlformats.org/drawingml/2006/main">
              <a:ext uri="{FF2B5EF4-FFF2-40B4-BE49-F238E27FC236}">
                <a16:creationId xmlns:a16="http://schemas.microsoft.com/office/drawing/2014/main" id="{612699C7-E9EC-409C-B748-A5C00FBACA6C}"/>
              </a:ext>
            </a:extLst>
          </p:cNvPr>
          <p:cNvSpPr>
            <a:spLocks xmlns:a="http://schemas.openxmlformats.org/drawingml/2006/main" noGrp="1"/>
          </p:cNvSpPr>
          <p:nvPr/>
        </p:nvSpPr>
        <p:spPr>
          <a:xfrm xmlns:a="http://schemas.openxmlformats.org/drawingml/2006/main">
            <a:off x="4429125" y="31718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DF3E7"/>
                </a:solidFill>
                <a:latin typeface="Lato"/>
                <a:ea typeface="Lato"/>
                <a:cs typeface="Lato"/>
              </a:defRPr>
            </a:pPr>
            <a:r>
              <a:rPr sz="1875" b="0">
                <a:solidFill>
                  <a:srgbClr val="DDF3E7"/>
                </a:solidFill>
                <a:latin typeface="Lato"/>
                <a:ea typeface="Lato"/>
                <a:cs typeface="Lato"/>
              </a:rPr>
              <a:t>portfolio templates</a:t>
            </a:r>
          </a:p>
        </p:txBody>
      </p:sp>
      <p:sp>
        <p:nvSpPr>
          <p:cNvPr id="7" name="">
            <a:extLst xmlns:a="http://schemas.openxmlformats.org/drawingml/2006/main">
              <a:ext uri="{FF2B5EF4-FFF2-40B4-BE49-F238E27FC236}">
                <a16:creationId xmlns:a16="http://schemas.microsoft.com/office/drawing/2014/main" id="{757C1F76-72AC-40B4-9F0A-B8AF21689052}"/>
              </a:ext>
            </a:extLst>
          </p:cNvPr>
          <p:cNvSpPr>
            <a:spLocks xmlns:a="http://schemas.openxmlformats.org/drawingml/2006/main" noGrp="1"/>
          </p:cNvSpPr>
          <p:nvPr/>
        </p:nvSpPr>
        <p:spPr>
          <a:xfrm xmlns:a="http://schemas.openxmlformats.org/drawingml/2006/main">
            <a:off x="8210550" y="2314575"/>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CFF15E"/>
                </a:solidFill>
                <a:latin typeface="Lato"/>
                <a:ea typeface="Lato"/>
                <a:cs typeface="Lato"/>
              </a:defRPr>
            </a:pPr>
            <a:r>
              <a:rPr sz="5100" b="1">
                <a:solidFill>
                  <a:srgbClr val="CFF15E"/>
                </a:solidFill>
                <a:latin typeface="Lato"/>
                <a:ea typeface="Lato"/>
                <a:cs typeface="Lato"/>
              </a:rPr>
              <a:t>10,000</a:t>
            </a:r>
          </a:p>
        </p:txBody>
      </p:sp>
      <p:sp>
        <p:nvSpPr>
          <p:cNvPr id="8" name="">
            <a:extLst xmlns:a="http://schemas.openxmlformats.org/drawingml/2006/main">
              <a:ext uri="{FF2B5EF4-FFF2-40B4-BE49-F238E27FC236}">
                <a16:creationId xmlns:a16="http://schemas.microsoft.com/office/drawing/2014/main" id="{8FAF8F2E-E609-4842-A232-1F612FE6B4FC}"/>
              </a:ext>
            </a:extLst>
          </p:cNvPr>
          <p:cNvSpPr>
            <a:spLocks xmlns:a="http://schemas.openxmlformats.org/drawingml/2006/main" noGrp="1"/>
          </p:cNvSpPr>
          <p:nvPr/>
        </p:nvSpPr>
        <p:spPr>
          <a:xfrm xmlns:a="http://schemas.openxmlformats.org/drawingml/2006/main">
            <a:off x="8210550" y="31718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DF3E7"/>
                </a:solidFill>
                <a:latin typeface="Lato"/>
                <a:ea typeface="Lato"/>
                <a:cs typeface="Lato"/>
              </a:defRPr>
            </a:pPr>
            <a:r>
              <a:rPr sz="1875" b="0">
                <a:solidFill>
                  <a:srgbClr val="DDF3E7"/>
                </a:solidFill>
                <a:latin typeface="Lato"/>
                <a:ea typeface="Lato"/>
                <a:cs typeface="Lato"/>
              </a:rPr>
              <a:t>fresh tests per setting</a:t>
            </a:r>
          </a:p>
        </p:txBody>
      </p:sp>
      <p:sp>
        <p:nvSpPr>
          <p:cNvPr id="9" name="">
            <a:extLst xmlns:a="http://schemas.openxmlformats.org/drawingml/2006/main">
              <a:ext uri="{FF2B5EF4-FFF2-40B4-BE49-F238E27FC236}">
                <a16:creationId xmlns:a16="http://schemas.microsoft.com/office/drawing/2014/main" id="{49DB9BF9-ED71-431B-AC0F-66395531DFB9}"/>
              </a:ext>
            </a:extLst>
          </p:cNvPr>
          <p:cNvSpPr>
            <a:spLocks xmlns:a="http://schemas.openxmlformats.org/drawingml/2006/main" noGrp="1"/>
          </p:cNvSpPr>
          <p:nvPr/>
        </p:nvSpPr>
        <p:spPr>
          <a:xfrm xmlns:a="http://schemas.openxmlformats.org/drawingml/2006/main">
            <a:off x="685800" y="444817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Lato"/>
                <a:ea typeface="Lato"/>
                <a:cs typeface="Lato"/>
              </a:defRPr>
            </a:pPr>
            <a:r>
              <a:rPr sz="2250" b="0">
                <a:solidFill>
                  <a:srgbClr val="FFFFFF"/>
                </a:solidFill>
                <a:latin typeface="Lato"/>
                <a:ea typeface="Lato"/>
                <a:cs typeface="Lato"/>
              </a:rPr>
              <a:t>Prices and ratings are synthetic. Shared-risk settings are assumptions. The search does not prove a global minimum.</a:t>
            </a:r>
          </a:p>
        </p:txBody>
      </p:sp>
      <p:sp>
        <p:nvSpPr>
          <p:cNvPr id="10" name="">
            <a:extLst xmlns:a="http://schemas.openxmlformats.org/drawingml/2006/main">
              <a:ext uri="{FF2B5EF4-FFF2-40B4-BE49-F238E27FC236}">
                <a16:creationId xmlns:a16="http://schemas.microsoft.com/office/drawing/2014/main" id="{9351288F-089B-4AE1-8E6B-0C2377568BBB}"/>
              </a:ext>
            </a:extLst>
          </p:cNvPr>
          <p:cNvSpPr>
            <a:spLocks xmlns:a="http://schemas.openxmlformats.org/drawingml/2006/main" noGrp="1"/>
          </p:cNvSpPr>
          <p:nvPr/>
        </p:nvSpPr>
        <p:spPr>
          <a:xfrm xmlns:a="http://schemas.openxmlformats.org/drawingml/2006/main">
            <a:off x="685800" y="59150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DF3E7"/>
                </a:solidFill>
                <a:latin typeface="Lato"/>
                <a:ea typeface="Lato"/>
                <a:cs typeface="Lato"/>
              </a:defRPr>
            </a:pPr>
            <a:r>
              <a:rPr sz="1725" b="0">
                <a:solidFill>
                  <a:srgbClr val="DDF3E7"/>
                </a:solidFill>
                <a:latin typeface="Lato"/>
                <a:ea typeface="Lato"/>
                <a:cs typeface="Lato"/>
              </a:rPr>
              <a:t>The result: a visible cost for resilience, with the remaining risk on the screen.</a:t>
            </a:r>
          </a:p>
        </p:txBody>
      </p:sp>
    </p:spTree>
    <p:extLst>
      <p:ext uri="{BB962C8B-B14F-4D97-AF65-F5344CB8AC3E}">
        <p14:creationId xmlns:p14="http://schemas.microsoft.com/office/powerpoint/2010/main" val="15284194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2026-10-03T15:02:22.0480000Z</dcterms:created>
  <dcterms:modified xsi:type="dcterms:W3CDTF">2026-10-03T15:02:22.0480000Z</dcterms:modified>
</coreProperties>
</file>
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f0bafae244bf4" /><Relationship Type="http://schemas.openxmlformats.org/officeDocument/2006/relationships/extended-properties" Target="/docProps/app.xml" Id="Rfb5ac2792c1742d3" /><Relationship Type="http://schemas.openxmlformats.org/officeDocument/2006/relationships/officeDocument" Target="/ppt/presentation.xml" Id="Rfa753a820c55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d31c8784648c3"/>
  </p:sldMasterIdLst>
  <p:notesMasterIdLst>
    <p:notesMasterId xmlns:r="http://schemas.openxmlformats.org/officeDocument/2006/relationships" r:id="R3df796e3724749ff"/>
  </p:notesMasterIdLst>
  <p:sldIdLst>
    <p:sldId xmlns:r="http://schemas.openxmlformats.org/officeDocument/2006/relationships" id="256" r:id="Rc9347b84fb30478a"/>
    <p:sldId xmlns:r="http://schemas.openxmlformats.org/officeDocument/2006/relationships" id="257" r:id="R14e3657f5e444feb"/>
    <p:sldId xmlns:r="http://schemas.openxmlformats.org/officeDocument/2006/relationships" id="258" r:id="Rdd0134b4f1c6441a"/>
    <p:sldId xmlns:r="http://schemas.openxmlformats.org/officeDocument/2006/relationships" id="259" r:id="R2750b65788f84bdf"/>
    <p:sldId xmlns:r="http://schemas.openxmlformats.org/officeDocument/2006/relationships" id="260" r:id="R8fe53257c5ee499c"/>
    <p:sldId xmlns:r="http://schemas.openxmlformats.org/officeDocument/2006/relationships" id="261" r:id="R9858ac7d66124d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20f42700a432c" /><Relationship Type="http://schemas.openxmlformats.org/officeDocument/2006/relationships/slideMaster" Target="/ppt/slideMasters/slideMaster1.xml" Id="Rc33d31c8784648c3" /><Relationship Type="http://schemas.openxmlformats.org/officeDocument/2006/relationships/notesMaster" Target="/ppt/notesMasters/notesMaster1.xml" Id="R3df796e3724749ff" /><Relationship Type="http://schemas.openxmlformats.org/officeDocument/2006/relationships/presProps" Target="/ppt/presProps.xml" Id="R53ee35973d6a497e" /><Relationship Type="http://schemas.openxmlformats.org/officeDocument/2006/relationships/tableStyles" Target="/ppt/tableStyles.xml" Id="R88d09210e1894e41" /><Relationship Type="http://schemas.openxmlformats.org/officeDocument/2006/relationships/slide" Target="/ppt/slides/slide1.xml" Id="Rc9347b84fb30478a" /><Relationship Type="http://schemas.openxmlformats.org/officeDocument/2006/relationships/slide" Target="/ppt/slides/slide2.xml" Id="R14e3657f5e444feb" /><Relationship Type="http://schemas.openxmlformats.org/officeDocument/2006/relationships/slide" Target="/ppt/slides/slide3.xml" Id="Rdd0134b4f1c6441a" /><Relationship Type="http://schemas.openxmlformats.org/officeDocument/2006/relationships/slide" Target="/ppt/slides/slide4.xml" Id="R2750b65788f84bdf" /><Relationship Type="http://schemas.openxmlformats.org/officeDocument/2006/relationships/slide" Target="/ppt/slides/slide5.xml" Id="R8fe53257c5ee499c" /><Relationship Type="http://schemas.openxmlformats.org/officeDocument/2006/relationships/slide" Target="/ppt/slides/slide6.xml" Id="R9858ac7d66124d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ff0526fe1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6bf41737f24e19" /><Relationship Type="http://schemas.openxmlformats.org/officeDocument/2006/relationships/notesMaster" Target="/ppt/notesMasters/notesMaster1.xml" Id="R4a4951e550b6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b44acf20a492f" /><Relationship Type="http://schemas.openxmlformats.org/officeDocument/2006/relationships/notesMaster" Target="/ppt/notesMasters/notesMaster1.xml" Id="Rf1a15520885d44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34aacce044464" /><Relationship Type="http://schemas.openxmlformats.org/officeDocument/2006/relationships/notesMaster" Target="/ppt/notesMasters/notesMaster1.xml" Id="R6638ea6e18e743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2ffee872474408" /><Relationship Type="http://schemas.openxmlformats.org/officeDocument/2006/relationships/notesMaster" Target="/ppt/notesMasters/notesMaster1.xml" Id="R10498d16cfd042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7fa3fa2b94eb0" /><Relationship Type="http://schemas.openxmlformats.org/officeDocument/2006/relationships/notesMaster" Target="/ppt/notesMasters/notesMaster1.xml" Id="R0fa51f9c9044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40ccbe5104721" /><Relationship Type="http://schemas.openxmlformats.org/officeDocument/2006/relationships/notesMaster" Target="/ppt/notesMasters/notesMaster1.xml" Id="Rcc0d28ae6e25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docs/optiver/brief.md. Challenge asks for a 100,000 tonne CO₂e carbon credit portfolio on a budget that survives unexpected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docs/optiver/brief.md, docs/optiver/product.md, and the supplied challenge workbook as recorded in apps/optiver/frontend/public/data/report.json. The 95% threshold is the team’s demo choice, not an organiser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apps/optiver/frontend/public/data/report.json and docs/optiver/pitch/judges/talking-points.md. Rates use 10,000 fresh simulations per setting, with shared latent variance 0.6. Costs rounded to the nearest dollar. These are modelled challenge results from synthetic prices and ratings.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apps/optiver/frontend/public/data/report.json. The three values correspond to assumed shared latent variance settings 0, 0.3 and 0.6; each uses 10,000 fresh scenarios. These settings are assumptions, not measured correlations. The largest registry exposure is VCS at 60% of purchased tonnes.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docs/optiver/pitch/judges/script.md and apps/optiver/frontend/public/data/report.json. The group-failure drill is deterministic: all projects in a selected group fail at once, with each holding’s buffer recovery applied. It illustrates severity, not event probability or a new allocation.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docs/optiver/product.md, docs/optiver/pitch/judges/talking-points.md, docs/optiver/presentation-verification.md. Search uses 2,000 training scenarios per setting; the selected candidate uses 10,000 fresh evaluation scenarios per setting. The portfolio was not purchased or retired. Results do not measure real-world emissions reduction. Presenter should state the team’s actual contributions verbally.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4a995a121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14ecdd55d44c3" /><Relationship Type="http://schemas.openxmlformats.org/officeDocument/2006/relationships/slideLayout" Target="/ppt/slideLayouts/slideLayout1.xml" Id="Redb5f01c7f534f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b5f01c7f534f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5dcfef8594fea" /><Relationship Type="http://schemas.openxmlformats.org/officeDocument/2006/relationships/notesSlide" Target="/ppt/notesSlides/notesSlide1.xml" Id="R8e304b8c4780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5f145fd084cca" /><Relationship Type="http://schemas.openxmlformats.org/officeDocument/2006/relationships/notesSlide" Target="/ppt/notesSlides/notesSlide2.xml" Id="Rcef7cbdae060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0da49cbd498d" /><Relationship Type="http://schemas.openxmlformats.org/officeDocument/2006/relationships/chart" Target="/ppt/slides/charts/chart1.xml" Id="R4e95696a080d49c6" /><Relationship Type="http://schemas.openxmlformats.org/officeDocument/2006/relationships/notesSlide" Target="/ppt/notesSlides/notesSlide3.xml" Id="R7d6d2c0448b8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7d81a16044818" /><Relationship Type="http://schemas.openxmlformats.org/officeDocument/2006/relationships/notesSlide" Target="/ppt/notesSlides/notesSlide4.xml" Id="Rcb9c862a567c42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3116c20df4d9d" /><Relationship Type="http://schemas.openxmlformats.org/officeDocument/2006/relationships/notesSlide" Target="/ppt/notesSlides/notesSlide5.xml" Id="Rf4b66d4a72db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6f2682c964fa9" /><Relationship Type="http://schemas.openxmlformats.org/officeDocument/2006/relationships/notesSlide" Target="/ppt/notesSlides/notesSlide6.xml" Id="Rf56fa46687274c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Target-hit rate</c:v>
          </c:tx>
          <c:spPr>
            <a:solidFill xmlns:a="http://schemas.openxmlformats.org/drawingml/2006/main">
              <a:srgbClr val="103C32"/>
            </a:solidFill>
          </c:spPr>
          <c:cat>
            <c:strRef>
              <c:f>'Chart Data'!$A$2:$A$4</c:f>
              <c:strCache>
                <c:ptCount val="3"/>
                <c:pt idx="0">
                  <c:v>Cheapest nominal</c:v>
                </c:pt>
                <c:pt idx="1">
                  <c:v>Cheapest expected</c:v>
                </c:pt>
                <c:pt idx="2">
                  <c:v>Diversified candidate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69.06</c:v>
                </c:pt>
                <c:pt idx="1">
                  <c:v>84.61</c:v>
                </c:pt>
                <c:pt idx="2">
                  <c:v>96.99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1FD85-44A1-43CB-B1CF-59F7821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F15E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FF15E"/>
                </a:solidFill>
                <a:latin typeface="Lato"/>
                <a:ea typeface="Lato"/>
                <a:cs typeface="Lato"/>
              </a:rPr>
              <a:t>ADAHACK 2026  ·  OPTIVER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F6B39-F900-49AF-82D8-5EA9CAE2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191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Carbon Portfolio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54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6B3E0-DF10-4663-9A01-1E1ED6F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966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DDF3E7"/>
                </a:solidFill>
                <a:latin typeface="Lato"/>
                <a:ea typeface="Lato"/>
                <a:cs typeface="Lato"/>
              </a:rPr>
              <a:t>Buying carbon credits that still meet the target when projects fail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025A-6D39-4076-AADC-65803A0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DDF3E7"/>
                </a:solidFill>
                <a:latin typeface="Lato"/>
                <a:ea typeface="Lato"/>
                <a:cs typeface="Lato"/>
              </a:rPr>
              <a:t>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04979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14DF-4D06-4537-999B-1A2EC3AE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56736A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B2526-1027-4633-AF8B-446D9E7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75F5F-1EDF-4D04-AB41-8033F0CE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750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100,000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1A7B5-352A-4172-A20A-0E947862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42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122E28"/>
                </a:solidFill>
                <a:latin typeface="Lato"/>
                <a:ea typeface="Lato"/>
                <a:cs typeface="Lato"/>
              </a:rPr>
              <a:t>tonnes of CO₂e to deliver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A8824-5D53-4AEC-B7B9-EC79978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19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122E28"/>
                </a:solidFill>
                <a:latin typeface="Lato"/>
                <a:ea typeface="Lato"/>
                <a:cs typeface="Lato"/>
              </a:rPr>
              <a:t>A cheap portfolio can miss the target when a project fails. Our team chose a 95% modelled reliability threshold to test the cost of resilience.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3A3AD-B087-4924-9AD1-D2C8689A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904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6736A"/>
                </a:solidFill>
                <a:latin typeface="Lato"/>
                <a:ea typeface="Lato"/>
                <a:cs typeface="Lato"/>
              </a:rPr>
              <a:t>$1m budget ceiling from the supplied workbook</a:t>
            </a:r>
          </a:p>
        </p:txBody>
      </p:sp>
    </p:spTree>
    <p:extLst>
      <p:ext uri="{BB962C8B-B14F-4D97-AF65-F5344CB8AC3E}">
        <p14:creationId xmlns:p14="http://schemas.microsoft.com/office/powerpoint/2010/main" val="1771105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B6B11-7E7F-4FF8-B94A-5834D6AA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56736A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3DF9A-6B3D-4AB9-B0D1-283451B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The cost of 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F2AD2-1DDB-427D-A04E-594538E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6736A"/>
                </a:solidFill>
                <a:latin typeface="Lato"/>
                <a:ea typeface="Lato"/>
                <a:cs typeface="Lato"/>
              </a:rPr>
              <a:t>Modelled target-hit rate at strongest tested shared-risk setting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7429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5696a080d49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F6022-F4C7-477C-B97D-A0A85128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56736A"/>
                </a:solidFill>
                <a:latin typeface="Lato"/>
                <a:ea typeface="Lato"/>
                <a:cs typeface="Lato"/>
              </a:rPr>
              <a:t>COST  / 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88BC6-92A7-4806-BC07-D7A1644A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050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$181,659  / 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3CA4C-BC44-4082-8A2B-D097A86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$115,294  / 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B7C9F-6302-4809-A144-1AF52FD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$94,277  / 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2CE6C-266F-4982-875B-29B55C0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62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22E28"/>
                </a:solidFill>
                <a:latin typeface="Lato"/>
                <a:ea typeface="Lato"/>
                <a:cs typeface="Lato"/>
              </a:rPr>
              <a:t>The candidate costs $87,382 more than the cheapest nominal portfolio.</a:t>
            </a:r>
          </a:p>
        </p:txBody>
      </p:sp>
    </p:spTree>
    <p:extLst>
      <p:ext uri="{BB962C8B-B14F-4D97-AF65-F5344CB8AC3E}">
        <p14:creationId xmlns:p14="http://schemas.microsoft.com/office/powerpoint/2010/main" val="1019025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E93B6-9A86-4793-93FB-F008A686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56736A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053E7-C901-4CF8-A705-5DB2B2D5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Shared failures test the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23B0D-1956-4EA2-96EF-7105A79A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2100" b="0">
                <a:solidFill>
                  <a:srgbClr val="122E28"/>
                </a:solidFill>
                <a:latin typeface="Lato"/>
                <a:ea typeface="Lato"/>
                <a:cs typeface="Lato"/>
              </a:rPr>
              <a:t>The same 13-project allocation clears the 100,000-tonne target in: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B810-249B-459E-851E-E442563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480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99.27%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B1E82-4ADA-48E5-A1F5-8517035A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6736A"/>
                </a:solidFill>
                <a:latin typeface="Lato"/>
                <a:ea typeface="Lato"/>
                <a:cs typeface="Lato"/>
              </a:rPr>
              <a:t>No shared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E4EC7-CF95-4C1F-814F-087721CF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480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98.31%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5E18-014C-41F6-9E15-6E66D2F4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6736A"/>
                </a:solidFill>
                <a:latin typeface="Lato"/>
                <a:ea typeface="Lato"/>
                <a:cs typeface="Lato"/>
              </a:rPr>
              <a:t>Moderate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7C141-193F-44C6-B3D3-BA5A8F58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3845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480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96.99%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FCF53-3C9A-4C28-8B05-7F353B8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6736A"/>
                </a:solidFill>
                <a:latin typeface="Lato"/>
                <a:ea typeface="Lato"/>
                <a:cs typeface="Lato"/>
              </a:rPr>
              <a:t>Strongest tested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DA493-DFEE-4CCE-A1B4-95C8E4CC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22E28"/>
                </a:solidFill>
                <a:latin typeface="Lato"/>
                <a:ea typeface="Lato"/>
                <a:cs typeface="Lato"/>
              </a:rPr>
              <a:t>The largest registry still represents 60% of purchased tonnes.</a:t>
            </a:r>
          </a:p>
        </p:txBody>
      </p:sp>
    </p:spTree>
    <p:extLst>
      <p:ext uri="{BB962C8B-B14F-4D97-AF65-F5344CB8AC3E}">
        <p14:creationId xmlns:p14="http://schemas.microsoft.com/office/powerpoint/2010/main" val="1797035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4B138-60AE-41FB-8442-F24203EC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56736A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F3BEF-9A92-4C84-8417-549DEEF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122E28"/>
                </a:solidFill>
                <a:latin typeface="Lato"/>
                <a:ea typeface="Lato"/>
                <a:cs typeface="Lato"/>
              </a:rPr>
              <a:t>A severe group-failure drill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1B854-0FD1-4BB1-BFDB-B2050C2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56736A"/>
                </a:solidFill>
                <a:latin typeface="Lato"/>
                <a:ea typeface="Lato"/>
                <a:cs typeface="Lato"/>
              </a:rPr>
              <a:t>If every VCS registry project failed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B33C7-FF18-4F1E-884B-79B0C63B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600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BD544A"/>
                </a:solidFill>
                <a:latin typeface="Lato"/>
                <a:ea typeface="Lato"/>
                <a:cs typeface="Lato"/>
              </a:defRPr>
            </a:pPr>
            <a:r>
              <a:rPr sz="6000" b="1">
                <a:solidFill>
                  <a:srgbClr val="BD544A"/>
                </a:solidFill>
                <a:latin typeface="Lato"/>
                <a:ea typeface="Lato"/>
                <a:cs typeface="Lato"/>
              </a:rPr>
              <a:t>66,668 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1DD22-92AD-4C8F-AA08-97FC681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22E28"/>
                </a:solidFill>
                <a:latin typeface="Lato"/>
                <a:ea typeface="Lato"/>
                <a:cs typeface="Lato"/>
              </a:rPr>
              <a:t>below target, after buffer 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70BB4-E3F3-469D-9C7E-2EDECF9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73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56736A"/>
                </a:solidFill>
                <a:latin typeface="Lato"/>
                <a:ea typeface="Lato"/>
                <a:cs typeface="Lato"/>
              </a:rPr>
              <a:t>If every China project failed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0778E-09B4-45F9-9D12-DAF8A0C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03C32"/>
                </a:solidFill>
                <a:latin typeface="Lato"/>
                <a:ea typeface="Lato"/>
                <a:cs typeface="Lato"/>
              </a:defRPr>
            </a:pPr>
            <a:r>
              <a:rPr sz="5850" b="1">
                <a:solidFill>
                  <a:srgbClr val="103C32"/>
                </a:solidFill>
                <a:latin typeface="Lato"/>
                <a:ea typeface="Lato"/>
                <a:cs typeface="Lato"/>
              </a:rPr>
              <a:t>108,336 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5E2B3-2111-46FD-87CC-BE4E9AB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22E28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22E28"/>
                </a:solidFill>
                <a:latin typeface="Lato"/>
                <a:ea typeface="Lato"/>
                <a:cs typeface="Lato"/>
              </a:rPr>
              <a:t>above target</a:t>
            </a:r>
          </a:p>
        </p:txBody>
      </p:sp>
    </p:spTree>
    <p:extLst>
      <p:ext uri="{BB962C8B-B14F-4D97-AF65-F5344CB8AC3E}">
        <p14:creationId xmlns:p14="http://schemas.microsoft.com/office/powerpoint/2010/main" val="240505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31DC3-7BDE-451B-8C8E-EE32FE08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FF15E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CFF15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5A17A-CD3A-4C9C-A4BC-B78EE425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What we built and what the model cannot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94F8-BB9F-4303-94A3-4EDA0BF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CFF15E"/>
                </a:solidFill>
                <a:latin typeface="Lato"/>
                <a:ea typeface="Lato"/>
                <a:cs typeface="Lato"/>
              </a:defRPr>
            </a:pPr>
            <a:r>
              <a:rPr sz="4725" b="1">
                <a:solidFill>
                  <a:srgbClr val="CFF15E"/>
                </a:solidFill>
                <a:latin typeface="Lato"/>
                <a:ea typeface="Lato"/>
                <a:cs typeface="Lato"/>
              </a:rPr>
              <a:t>4,355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7F1E1-99C5-4843-A661-6B573592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DDF3E7"/>
                </a:solidFill>
                <a:latin typeface="Lato"/>
                <a:ea typeface="Lato"/>
                <a:cs typeface="Lato"/>
              </a:rPr>
              <a:t>supplied projects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8B030-2FD5-46F5-8109-419B735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CFF15E"/>
                </a:solidFill>
                <a:latin typeface="Lato"/>
                <a:ea typeface="Lato"/>
                <a:cs typeface="Lato"/>
              </a:defRPr>
            </a:pPr>
            <a:r>
              <a:rPr sz="4725" b="1">
                <a:solidFill>
                  <a:srgbClr val="CFF15E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777A1-222F-4CDC-89A7-CE86712A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DDF3E7"/>
                </a:solidFill>
                <a:latin typeface="Lato"/>
                <a:ea typeface="Lato"/>
                <a:cs typeface="Lato"/>
              </a:rPr>
              <a:t>allocation templates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BB92A-F208-449A-8BE8-1E1EAB7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812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CFF15E"/>
                </a:solidFill>
                <a:latin typeface="Lato"/>
                <a:ea typeface="Lato"/>
                <a:cs typeface="Lato"/>
              </a:defRPr>
            </a:pPr>
            <a:r>
              <a:rPr sz="4725" b="1">
                <a:solidFill>
                  <a:srgbClr val="CFF15E"/>
                </a:solidFill>
                <a:latin typeface="Lato"/>
                <a:ea typeface="Lato"/>
                <a:cs typeface="Lato"/>
              </a:rPr>
              <a:t>10,000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3B8A2-D43D-4175-AE31-1C6D441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57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DDF3E7"/>
                </a:solidFill>
                <a:latin typeface="Lato"/>
                <a:ea typeface="Lato"/>
                <a:cs typeface="Lato"/>
              </a:rPr>
              <a:t>fresh tests per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60503-F7B5-4A5D-9B4F-FF7D2BA6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62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Synthetic prices and ratings. Assumed shared-risk settings. A bounded search rather than a proof of the cheapest portfolio.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BAFE9-2320-4700-8438-F7D99BDE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DF3E7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DDF3E7"/>
                </a:solidFill>
                <a:latin typeface="Lato"/>
                <a:ea typeface="Lato"/>
                <a:cs typeface="Lato"/>
              </a:rPr>
              <a:t>Live demo: compare costs, switch risk settings and run the group-failure drill</a:t>
            </a:r>
          </a:p>
        </p:txBody>
      </p:sp>
    </p:spTree>
    <p:extLst>
      <p:ext uri="{BB962C8B-B14F-4D97-AF65-F5344CB8AC3E}">
        <p14:creationId xmlns:p14="http://schemas.microsoft.com/office/powerpoint/2010/main" val="1886930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2026-10-03T14:54:29.8830000Z</dcterms:created>
  <dcterms:modified xsi:type="dcterms:W3CDTF">2026-10-03T14:54:29.8830000Z</dcterms:modified>
</coreProperties>
</file>